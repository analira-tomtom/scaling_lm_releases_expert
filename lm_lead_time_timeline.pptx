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WS6 – Lead Time Improvement Roadmap  (Goal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8AAA"/>
                </a:solidFill>
              </a:rPr>
              <a:t>May → September 2026  |  Current: 13.77 days (CW20)  |  Target: 9.0 days (Q3)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05840" y="960119"/>
            <a:ext cx="10954512" cy="0"/>
          </a:xfrm>
          <a:prstGeom prst="line">
            <a:avLst/>
          </a:prstGeom>
          <a:ln w="1016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923544"/>
            <a:ext cx="0" cy="73151"/>
          </a:xfrm>
          <a:prstGeom prst="line">
            <a:avLst/>
          </a:prstGeom>
          <a:ln w="1016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740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8AAA"/>
                </a:solidFill>
              </a:rPr>
              <a:t>May '26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39983" y="923544"/>
            <a:ext cx="0" cy="73151"/>
          </a:xfrm>
          <a:prstGeom prst="line">
            <a:avLst/>
          </a:prstGeom>
          <a:ln w="1016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75391" y="740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8AAA"/>
                </a:solidFill>
              </a:rPr>
              <a:t>Jun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02058" y="923544"/>
            <a:ext cx="0" cy="73151"/>
          </a:xfrm>
          <a:prstGeom prst="line">
            <a:avLst/>
          </a:prstGeom>
          <a:ln w="1016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37466" y="740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8AAA"/>
                </a:solidFill>
              </a:rPr>
              <a:t>Jul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6202" y="923544"/>
            <a:ext cx="0" cy="73151"/>
          </a:xfrm>
          <a:prstGeom prst="line">
            <a:avLst/>
          </a:prstGeom>
          <a:ln w="1016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71610" y="740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8AAA"/>
                </a:solidFill>
              </a:rPr>
              <a:t>Aug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70346" y="923544"/>
            <a:ext cx="0" cy="73151"/>
          </a:xfrm>
          <a:prstGeom prst="line">
            <a:avLst/>
          </a:prstGeom>
          <a:ln w="1016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05754" y="74066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8AAA"/>
                </a:solidFill>
              </a:rPr>
              <a:t>Sep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960352" y="923544"/>
            <a:ext cx="0" cy="73151"/>
          </a:xfrm>
          <a:prstGeom prst="line">
            <a:avLst/>
          </a:prstGeom>
          <a:ln w="1016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" y="1051560"/>
            <a:ext cx="11914632" cy="0"/>
          </a:xfrm>
          <a:prstGeom prst="line">
            <a:avLst/>
          </a:prstGeom>
          <a:ln w="5080">
            <a:solidFill>
              <a:srgbClr val="2A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" y="108813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To-Be process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" y="1280160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ADASHD-2756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1115568"/>
            <a:ext cx="1513452" cy="20116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55868" y="11247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C4DFF"/>
                </a:solidFill>
              </a:rPr>
              <a:t>Alignment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5868" y="129844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M. Aigner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" y="1380743"/>
            <a:ext cx="11914632" cy="0"/>
          </a:xfrm>
          <a:prstGeom prst="line">
            <a:avLst/>
          </a:prstGeom>
          <a:ln w="5080">
            <a:solidFill>
              <a:srgbClr val="2A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" y="1417319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Process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" y="1609343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ADASHD-3336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1444751"/>
            <a:ext cx="2017936" cy="20116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0352" y="1453895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C4DFF"/>
                </a:solidFill>
              </a:rPr>
              <a:t>Enables measurement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0352" y="1627631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A. Jalali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" y="1709928"/>
            <a:ext cx="11914632" cy="0"/>
          </a:xfrm>
          <a:prstGeom prst="line">
            <a:avLst/>
          </a:prstGeom>
          <a:ln w="5080">
            <a:solidFill>
              <a:srgbClr val="2A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" y="174650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Remove NDS.Live idle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" y="193852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ADASHD-3339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1773936"/>
            <a:ext cx="2162074" cy="20116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4490" y="17830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C4DFF"/>
                </a:solidFill>
              </a:rPr>
              <a:t>−2.3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4490" y="195681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P. van Hulten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" y="2039112"/>
            <a:ext cx="11914632" cy="0"/>
          </a:xfrm>
          <a:prstGeom prst="line">
            <a:avLst/>
          </a:prstGeom>
          <a:ln w="5080">
            <a:solidFill>
              <a:srgbClr val="2A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152" y="2075688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Tool automation / handoffs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" y="2267712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ADASHD-3625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9292" y="2103120"/>
            <a:ext cx="2162074" cy="20116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17943" y="2112263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C4DFF"/>
                </a:solidFill>
              </a:rPr>
              <a:t>−0.5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17943" y="228600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A. Jalali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" y="2368296"/>
            <a:ext cx="11914632" cy="0"/>
          </a:xfrm>
          <a:prstGeom prst="line">
            <a:avLst/>
          </a:prstGeom>
          <a:ln w="5080">
            <a:solidFill>
              <a:srgbClr val="2A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" y="240487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DevMap/Staging stability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" y="2596896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ADASHD-2755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4808" y="2432303"/>
            <a:ext cx="3315181" cy="20116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66565" y="2441447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C4DFF"/>
                </a:solidFill>
              </a:rPr>
              <a:t>−0.5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6565" y="2615184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T. Szambor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720" y="2697479"/>
            <a:ext cx="11914632" cy="0"/>
          </a:xfrm>
          <a:prstGeom prst="line">
            <a:avLst/>
          </a:prstGeom>
          <a:ln w="5080">
            <a:solidFill>
              <a:srgbClr val="2A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152" y="2734056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Incremental P0a: Crosslink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" y="2926079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ADASHD-2764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48952" y="2761487"/>
            <a:ext cx="3387250" cy="201168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72778" y="2770631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C98D"/>
                </a:solidFill>
              </a:rPr>
              <a:t>−1.2 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72778" y="294436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T. Bekaert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720" y="3026664"/>
            <a:ext cx="11914632" cy="0"/>
          </a:xfrm>
          <a:prstGeom prst="line">
            <a:avLst/>
          </a:prstGeom>
          <a:ln w="5080">
            <a:solidFill>
              <a:srgbClr val="2A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" y="3063240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Incremental P0b: Lane Fn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" y="3255264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ADASHD-2764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02058" y="3090672"/>
            <a:ext cx="4468287" cy="201168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06922" y="3099815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C98D"/>
                </a:solidFill>
              </a:rPr>
              <a:t>−2.0 days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06922" y="327355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E. Goraca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5720" y="3355848"/>
            <a:ext cx="11914632" cy="0"/>
          </a:xfrm>
          <a:prstGeom prst="line">
            <a:avLst/>
          </a:prstGeom>
          <a:ln w="5080">
            <a:solidFill>
              <a:srgbClr val="2A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3152" y="3392424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Incremental P1: Self-contained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" y="358444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ADASHD-2764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11026" y="3419856"/>
            <a:ext cx="4468287" cy="201168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15890" y="342899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C98D"/>
                </a:solidFill>
              </a:rPr>
              <a:t>−0.8 days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15890" y="360273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A8AAA"/>
                </a:solidFill>
              </a:rPr>
              <a:t>D. Turobos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447223" y="941832"/>
            <a:ext cx="0" cy="5596128"/>
          </a:xfrm>
          <a:prstGeom prst="line">
            <a:avLst/>
          </a:prstGeom>
          <a:ln w="15240">
            <a:solidFill>
              <a:srgbClr val="FFD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246055" y="1005839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D55"/>
                </a:solidFill>
              </a:rPr>
              <a:t>Today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27654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AAA"/>
                </a:solidFill>
              </a:rPr>
              <a:t>7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69264" y="6386277"/>
            <a:ext cx="10991088" cy="0"/>
          </a:xfrm>
          <a:prstGeom prst="line">
            <a:avLst/>
          </a:prstGeom>
          <a:ln w="6350">
            <a:solidFill>
              <a:srgbClr val="2A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40080" y="5973183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AAA"/>
                </a:solidFill>
              </a:rPr>
              <a:t>8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69264" y="6082911"/>
            <a:ext cx="10991088" cy="0"/>
          </a:xfrm>
          <a:prstGeom prst="line">
            <a:avLst/>
          </a:prstGeom>
          <a:ln w="6350">
            <a:solidFill>
              <a:srgbClr val="2A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40080" y="5669817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AAA"/>
                </a:solidFill>
              </a:rPr>
              <a:t>9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69264" y="5779545"/>
            <a:ext cx="10991088" cy="0"/>
          </a:xfrm>
          <a:prstGeom prst="line">
            <a:avLst/>
          </a:prstGeom>
          <a:ln w="6350">
            <a:solidFill>
              <a:srgbClr val="2A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0080" y="53664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AAA"/>
                </a:solidFill>
              </a:rPr>
              <a:t>10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969264" y="5476180"/>
            <a:ext cx="10991088" cy="0"/>
          </a:xfrm>
          <a:prstGeom prst="line">
            <a:avLst/>
          </a:prstGeom>
          <a:ln w="6350">
            <a:solidFill>
              <a:srgbClr val="2A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40080" y="506308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AAA"/>
                </a:solidFill>
              </a:rPr>
              <a:t>11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69264" y="5172814"/>
            <a:ext cx="10991088" cy="0"/>
          </a:xfrm>
          <a:prstGeom prst="line">
            <a:avLst/>
          </a:prstGeom>
          <a:ln w="6350">
            <a:solidFill>
              <a:srgbClr val="2A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40080" y="4759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AAA"/>
                </a:solidFill>
              </a:rPr>
              <a:t>12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69264" y="4869448"/>
            <a:ext cx="10991088" cy="0"/>
          </a:xfrm>
          <a:prstGeom prst="line">
            <a:avLst/>
          </a:prstGeom>
          <a:ln w="6350">
            <a:solidFill>
              <a:srgbClr val="2A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40080" y="445635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AAA"/>
                </a:solidFill>
              </a:rPr>
              <a:t>13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69264" y="4566083"/>
            <a:ext cx="10991088" cy="0"/>
          </a:xfrm>
          <a:prstGeom prst="line">
            <a:avLst/>
          </a:prstGeom>
          <a:ln w="6350">
            <a:solidFill>
              <a:srgbClr val="2A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40080" y="415298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AAA"/>
                </a:solidFill>
              </a:rPr>
              <a:t>14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69264" y="4262717"/>
            <a:ext cx="10991088" cy="0"/>
          </a:xfrm>
          <a:prstGeom prst="line">
            <a:avLst/>
          </a:prstGeom>
          <a:ln w="6350">
            <a:solidFill>
              <a:srgbClr val="2A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40080" y="3849623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A8AAA"/>
                </a:solidFill>
              </a:rPr>
              <a:t>15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69264" y="3959351"/>
            <a:ext cx="10991088" cy="0"/>
          </a:xfrm>
          <a:prstGeom prst="line">
            <a:avLst/>
          </a:prstGeom>
          <a:ln w="6350">
            <a:solidFill>
              <a:srgbClr val="2A2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8288" y="51114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8AAA"/>
                </a:solidFill>
              </a:rPr>
              <a:t>Lead time (days)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005840" y="5021131"/>
            <a:ext cx="10954512" cy="0"/>
          </a:xfrm>
          <a:prstGeom prst="line">
            <a:avLst/>
          </a:prstGeom>
          <a:ln w="1524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2006072" y="4911403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8C00"/>
                </a:solidFill>
              </a:rPr>
              <a:t>Q2 target  11.5d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1005840" y="5779545"/>
            <a:ext cx="10954512" cy="0"/>
          </a:xfrm>
          <a:prstGeom prst="line">
            <a:avLst/>
          </a:prstGeom>
          <a:ln w="15240">
            <a:solidFill>
              <a:srgbClr val="00C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2006072" y="5669817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C98D"/>
                </a:solidFill>
              </a:rPr>
              <a:t>Q3 target  9.0d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447223" y="4332491"/>
            <a:ext cx="720691" cy="0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167914" y="4332491"/>
            <a:ext cx="0" cy="697741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167914" y="5030232"/>
            <a:ext cx="2162075" cy="0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29989" y="5030232"/>
            <a:ext cx="0" cy="303366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29989" y="5333598"/>
            <a:ext cx="2306213" cy="0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636202" y="5333598"/>
            <a:ext cx="0" cy="364039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636202" y="5697637"/>
            <a:ext cx="2234144" cy="0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870346" y="5697637"/>
            <a:ext cx="0" cy="606731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870346" y="6304368"/>
            <a:ext cx="2090006" cy="0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1960352" y="6304368"/>
            <a:ext cx="0" cy="242692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1960352" y="6547060"/>
            <a:ext cx="0" cy="0"/>
          </a:xfrm>
          <a:prstGeom prst="line">
            <a:avLst/>
          </a:prstGeom>
          <a:ln w="3175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2392359" y="4277627"/>
            <a:ext cx="109728" cy="109728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520375" y="4405643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FB3FF"/>
                </a:solidFill>
              </a:rPr>
              <a:t>Now 13.77d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113050" y="4975368"/>
            <a:ext cx="109728" cy="109728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64994" y="4435872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FB3FF"/>
                </a:solidFill>
              </a:rPr>
              <a:t>−2.3d
(NDS.Live idle)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275125" y="5278734"/>
            <a:ext cx="109728" cy="109728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827069" y="4739238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FB3FF"/>
                </a:solidFill>
              </a:rPr>
              <a:t>−1.0d
(automation
+ stability)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81338" y="5642773"/>
            <a:ext cx="109728" cy="109728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33282" y="5103277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FB3FF"/>
                </a:solidFill>
              </a:rPr>
              <a:t>−1.2d
(Crosslink
incremental)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15482" y="6249504"/>
            <a:ext cx="109728" cy="109728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367426" y="5710008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FB3FF"/>
                </a:solidFill>
              </a:rPr>
              <a:t>−2.0d
(Lane Fn
incremental)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905488" y="6492196"/>
            <a:ext cx="109728" cy="109728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457432" y="595270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FB3FF"/>
                </a:solidFill>
              </a:rPr>
              <a:t>−0.8d
(P1 incremental)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" y="6400800"/>
            <a:ext cx="228600" cy="13716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47472" y="6382512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Process / automation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993392" y="6400800"/>
            <a:ext cx="228600" cy="137160"/>
          </a:xfrm>
          <a:prstGeom prst="rect">
            <a:avLst/>
          </a:prstGeom>
          <a:solidFill>
            <a:srgbClr val="00C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267712" y="63825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Incremental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WS6 – 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AAA"/>
                </a:solidFill>
              </a:rPr>
              <a:t>Enabling Weekly LM Map Releases  ·  March → May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960120"/>
            <a:ext cx="11731752" cy="0"/>
          </a:xfrm>
          <a:prstGeom prst="line">
            <a:avLst/>
          </a:prstGeom>
          <a:ln w="762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05156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B3FF"/>
                </a:solidFill>
              </a:rPr>
              <a:t>What we've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447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59" y="1435608"/>
            <a:ext cx="3840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 weekly releases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1673352"/>
            <a:ext cx="3840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8AAA"/>
                </a:solidFill>
              </a:rPr>
              <a:t>CW14–CW21, every week without a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2002536"/>
            <a:ext cx="3840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 of 9 on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" y="2240280"/>
            <a:ext cx="3840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8AAA"/>
                </a:solidFill>
              </a:rPr>
              <a:t>On or before Thursday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7860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59" y="2569464"/>
            <a:ext cx="3840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First combined CARIAD
    + VOLVO release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59" y="2807208"/>
            <a:ext cx="3840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8AAA"/>
                </a:solidFill>
              </a:rPr>
              <a:t>CW17 — both endpoints live same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145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59" y="3136392"/>
            <a:ext cx="3840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CARIAD confidence restored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3374136"/>
            <a:ext cx="3840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8AAA"/>
                </a:solidFill>
              </a:rPr>
              <a:t>Voluntarily skipped CW19 — a sign of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71246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59" y="3703320"/>
            <a:ext cx="3840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New features shipped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59" y="3941064"/>
            <a:ext cx="3840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8AAA"/>
                </a:solidFill>
              </a:rPr>
              <a:t>Drive Path layer + 8 self-contained features (CW18)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27939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59" y="4270248"/>
            <a:ext cx="3840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Incremental pipeline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59" y="4507992"/>
            <a:ext cx="3840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8AAA"/>
                </a:solidFill>
              </a:rPr>
              <a:t>New mini-binding layer active; old one decommissioned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63440" y="1005840"/>
            <a:ext cx="0" cy="5669280"/>
          </a:xfrm>
          <a:prstGeom prst="line">
            <a:avLst/>
          </a:prstGeom>
          <a:ln w="15240">
            <a:solidFill>
              <a:srgbClr val="242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37760" y="1051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B3FF"/>
                </a:solidFill>
              </a:rPr>
              <a:t>Lead time targets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1444752"/>
            <a:ext cx="3474720" cy="566928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7488" y="147218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8AAA"/>
                </a:solidFill>
              </a:rPr>
              <a:t>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166420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~13.8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173736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8AAA"/>
                </a:solidFill>
              </a:rPr>
              <a:t>avg CW16–CW20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75120" y="2029968"/>
            <a:ext cx="0" cy="164592"/>
          </a:xfrm>
          <a:prstGeom prst="line">
            <a:avLst/>
          </a:prstGeom>
          <a:ln w="1270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01968" y="2139696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AA"/>
                </a:solidFill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2304288"/>
            <a:ext cx="3474720" cy="658368"/>
          </a:xfrm>
          <a:prstGeom prst="rect">
            <a:avLst/>
          </a:prstGeom>
          <a:solidFill>
            <a:srgbClr val="281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937760" y="2304288"/>
            <a:ext cx="3474720" cy="0"/>
          </a:xfrm>
          <a:prstGeom prst="line">
            <a:avLst/>
          </a:prstGeom>
          <a:ln w="38100">
            <a:solidFill>
              <a:srgbClr val="7C4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47488" y="2340864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4DFF"/>
                </a:solidFill>
              </a:rPr>
              <a:t>End Q2  ·  External goal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254203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4DFF"/>
                </a:solidFill>
              </a:rPr>
              <a:t>≤ 11.5 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377440"/>
            <a:ext cx="1051560" cy="493776"/>
          </a:xfrm>
          <a:prstGeom prst="rect">
            <a:avLst/>
          </a:prstGeom>
          <a:solidFill>
            <a:srgbClr val="3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6" y="24048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D55"/>
                </a:solidFill>
              </a:rPr>
              <a:t>⭐ Already hit it!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0336" y="259689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D55"/>
                </a:solidFill>
              </a:rPr>
              <a:t>CW17: 10.61 days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675120" y="2980944"/>
            <a:ext cx="0" cy="164592"/>
          </a:xfrm>
          <a:prstGeom prst="line">
            <a:avLst/>
          </a:prstGeom>
          <a:ln w="1270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601968" y="3090672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AA"/>
                </a:solidFill>
              </a:rPr>
              <a:t>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255264"/>
            <a:ext cx="3474720" cy="658368"/>
          </a:xfrm>
          <a:prstGeom prst="rect">
            <a:avLst/>
          </a:prstGeom>
          <a:solidFill>
            <a:srgbClr val="10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4937760" y="3255264"/>
            <a:ext cx="3474720" cy="0"/>
          </a:xfrm>
          <a:prstGeom prst="line">
            <a:avLst/>
          </a:prstGeom>
          <a:ln w="38100">
            <a:solidFill>
              <a:srgbClr val="00C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47488" y="3291840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98D"/>
                </a:solidFill>
              </a:rPr>
              <a:t>September  ·  External goal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7488" y="349300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8D"/>
                </a:solidFill>
              </a:rPr>
              <a:t>≤ 9 days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34015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C98D"/>
                </a:solidFill>
              </a:rPr>
              <a:t>Incremental
pipeline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75120" y="3931920"/>
            <a:ext cx="0" cy="164592"/>
          </a:xfrm>
          <a:prstGeom prst="line">
            <a:avLst/>
          </a:prstGeom>
          <a:ln w="1270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601968" y="404164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AA"/>
                </a:solidFill>
              </a:rPr>
              <a:t>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4206240"/>
            <a:ext cx="3474720" cy="658368"/>
          </a:xfrm>
          <a:prstGeom prst="rect">
            <a:avLst/>
          </a:prstGeom>
          <a:solidFill>
            <a:srgbClr val="2B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937760" y="4206240"/>
            <a:ext cx="3474720" cy="0"/>
          </a:xfrm>
          <a:prstGeom prst="line">
            <a:avLst/>
          </a:prstGeom>
          <a:ln w="381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47488" y="4242816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00"/>
                </a:solidFill>
              </a:rPr>
              <a:t>End of Year  ·  Internal goal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7488" y="444398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</a:rPr>
              <a:t>≤ 7 days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352544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8C00"/>
                </a:solidFill>
              </a:rPr>
              <a:t>Ready for
CARIAD mid-'27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675120" y="4882896"/>
            <a:ext cx="0" cy="164592"/>
          </a:xfrm>
          <a:prstGeom prst="line">
            <a:avLst/>
          </a:prstGeom>
          <a:ln w="1270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601968" y="4992624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AA"/>
                </a:solidFill>
              </a:rPr>
              <a:t>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37760" y="5157216"/>
            <a:ext cx="3474720" cy="530352"/>
          </a:xfrm>
          <a:prstGeom prst="rect">
            <a:avLst/>
          </a:prstGeom>
          <a:solidFill>
            <a:srgbClr val="0D0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4937760" y="5157216"/>
            <a:ext cx="3474720" cy="0"/>
          </a:xfrm>
          <a:prstGeom prst="line">
            <a:avLst/>
          </a:prstGeom>
          <a:ln w="12700">
            <a:solidFill>
              <a:srgbClr val="4F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47488" y="5193792"/>
            <a:ext cx="3291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FB3FF"/>
                </a:solidFill>
              </a:rPr>
              <a:t>🎯  North Star  ·  mid-2027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5394960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B3FF"/>
                </a:solidFill>
              </a:rPr>
              <a:t>CARIAD weekly cadence at scale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595359" y="1005840"/>
            <a:ext cx="0" cy="5669280"/>
          </a:xfrm>
          <a:prstGeom prst="line">
            <a:avLst/>
          </a:prstGeom>
          <a:ln w="15240">
            <a:solidFill>
              <a:srgbClr val="242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69680" y="1051560"/>
            <a:ext cx="3136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B3FF"/>
                </a:solidFill>
              </a:rPr>
              <a:t>Momentum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19" y="1444752"/>
            <a:ext cx="2953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8AAA"/>
                </a:solidFill>
              </a:rPr>
              <a:t>Lead time per release (days)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19" y="1682496"/>
            <a:ext cx="2551095" cy="256032"/>
          </a:xfrm>
          <a:prstGeom prst="rect">
            <a:avLst/>
          </a:prstGeom>
          <a:solidFill>
            <a:srgbClr val="8A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548791" y="17007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AA"/>
                </a:solidFill>
              </a:rPr>
              <a:t>13.82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13647" y="1700784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A8AAA"/>
                </a:solidFill>
              </a:rPr>
              <a:t>CW15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61119" y="2029968"/>
            <a:ext cx="2665544" cy="256032"/>
          </a:xfrm>
          <a:prstGeom prst="rect">
            <a:avLst/>
          </a:prstGeom>
          <a:solidFill>
            <a:srgbClr val="8A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663240" y="20482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AA"/>
                </a:solidFill>
              </a:rPr>
              <a:t>14.44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3647" y="2048256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A8AAA"/>
                </a:solidFill>
              </a:rPr>
              <a:t>CW16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61119" y="2377440"/>
            <a:ext cx="1958547" cy="256032"/>
          </a:xfrm>
          <a:prstGeom prst="rect">
            <a:avLst/>
          </a:prstGeom>
          <a:solidFill>
            <a:srgbClr val="FFD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956243" y="23957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D55"/>
                </a:solidFill>
              </a:rPr>
              <a:t>10.61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13647" y="239572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A8AAA"/>
                </a:solidFill>
              </a:rPr>
              <a:t>CW17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61119" y="2724912"/>
            <a:ext cx="2549250" cy="256032"/>
          </a:xfrm>
          <a:prstGeom prst="rect">
            <a:avLst/>
          </a:prstGeom>
          <a:solidFill>
            <a:srgbClr val="8A8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546946" y="274320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AAA"/>
                </a:solidFill>
              </a:rPr>
              <a:t>13.81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3647" y="274320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A8AAA"/>
                </a:solidFill>
              </a:rPr>
              <a:t>CW18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61119" y="3072384"/>
            <a:ext cx="2541866" cy="256032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539562" y="309067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B3FF"/>
                </a:solidFill>
              </a:rPr>
              <a:t>13.77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13647" y="309067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A8AAA"/>
                </a:solidFill>
              </a:rPr>
              <a:t>CW20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1083956" y="1682496"/>
            <a:ext cx="0" cy="1700783"/>
          </a:xfrm>
          <a:prstGeom prst="line">
            <a:avLst/>
          </a:prstGeom>
          <a:ln w="15240">
            <a:solidFill>
              <a:srgbClr val="7C4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535316" y="3383279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C4DFF"/>
                </a:solidFill>
              </a:rPr>
              <a:t>Q2 target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69680" y="3529584"/>
            <a:ext cx="3090672" cy="914400"/>
          </a:xfrm>
          <a:prstGeom prst="rect">
            <a:avLst/>
          </a:prstGeom>
          <a:solidFill>
            <a:srgbClr val="1E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8869680" y="3529584"/>
            <a:ext cx="3090671" cy="0"/>
          </a:xfrm>
          <a:prstGeom prst="line">
            <a:avLst/>
          </a:prstGeom>
          <a:ln w="31750">
            <a:solidFill>
              <a:srgbClr val="FFD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979407" y="3584448"/>
            <a:ext cx="2907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D55"/>
                </a:solidFill>
              </a:rPr>
              <a:t>⭐  CW17: 10.61 days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79407" y="3877056"/>
            <a:ext cx="2907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First time under Q2 target.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79407" y="4078224"/>
            <a:ext cx="2907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D55"/>
                </a:solidFill>
              </a:rPr>
              <a:t>Proof that 11.5 days is achievable now.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28600" y="6492240"/>
            <a:ext cx="11731752" cy="0"/>
          </a:xfrm>
          <a:prstGeom prst="line">
            <a:avLst/>
          </a:prstGeom>
          <a:ln w="5080">
            <a:solidFill>
              <a:srgbClr val="8A8A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28600" y="6537960"/>
            <a:ext cx="117317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8AAA"/>
                </a:solidFill>
              </a:rPr>
              <a:t>Sources: W21 Confluence weekly report · WS6 main page (1505067229) · JIRA ADASHD-2672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